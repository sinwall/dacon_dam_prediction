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61" r:id="rId8"/>
  </p:sldIdLst>
  <p:sldSz cx="9144000" cy="6858000" type="screen4x3"/>
  <p:notesSz cx="6858000" cy="9144000"/>
  <p:embeddedFontLst>
    <p:embeddedFont>
      <p:font typeface="맑은 고딕" panose="020B0503020000020004" pitchFamily="50" charset="-127"/>
      <p:regular r:id="rId9"/>
      <p:bold r:id="rId10"/>
    </p:embeddedFont>
    <p:embeddedFont>
      <p:font typeface="한수원 한울림" panose="020B0600000101010101" pitchFamily="50" charset="-127"/>
      <p:regular r:id="rId11"/>
    </p:embeddedFont>
    <p:embeddedFont>
      <p:font typeface="한수원 한돋움" panose="020B0600000101010101" pitchFamily="50" charset="-127"/>
      <p:bold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ED5"/>
    <a:srgbClr val="235EA5"/>
    <a:srgbClr val="347CD4"/>
    <a:srgbClr val="6087CE"/>
    <a:srgbClr val="FDD073"/>
    <a:srgbClr val="E03D50"/>
    <a:srgbClr val="2DDB8C"/>
    <a:srgbClr val="32B7D6"/>
    <a:srgbClr val="A61A2B"/>
    <a:srgbClr val="E9A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76" y="108"/>
      </p:cViewPr>
      <p:guideLst>
        <p:guide orient="horz" pos="2183"/>
        <p:guide pos="2880"/>
        <p:guide pos="249"/>
        <p:guide pos="55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5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21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15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2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27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02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74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21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2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6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21DEA-1F2D-4252-A6BD-765AF8CC9571}" type="datetimeFigureOut">
              <a:rPr lang="ko-KR" altLang="en-US" smtClean="0"/>
              <a:t>2022-09-12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4A052-3FDA-40E7-8AAD-0462402A0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13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24.png"/><Relationship Id="rId50" Type="http://schemas.openxmlformats.org/officeDocument/2006/relationships/image" Target="../media/image49.svg"/><Relationship Id="rId55" Type="http://schemas.openxmlformats.org/officeDocument/2006/relationships/image" Target="../media/image28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19.png"/><Relationship Id="rId40" Type="http://schemas.openxmlformats.org/officeDocument/2006/relationships/image" Target="../media/image39.svg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14.png"/><Relationship Id="rId30" Type="http://schemas.openxmlformats.org/officeDocument/2006/relationships/image" Target="../media/image29.svg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21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ogl.or.kr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그림 193" descr="동물이(가) 표시된 사진&#10;&#10;자동 생성된 설명">
            <a:extLst>
              <a:ext uri="{FF2B5EF4-FFF2-40B4-BE49-F238E27FC236}">
                <a16:creationId xmlns:a16="http://schemas.microsoft.com/office/drawing/2014/main" id="{3E4A486E-AC15-4246-BE63-6A846E205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F68E4E65-4062-4449-BCB5-B9CBA068DFBB}"/>
              </a:ext>
            </a:extLst>
          </p:cNvPr>
          <p:cNvSpPr txBox="1"/>
          <p:nvPr/>
        </p:nvSpPr>
        <p:spPr>
          <a:xfrm>
            <a:off x="395288" y="1590765"/>
            <a:ext cx="4440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[</a:t>
            </a:r>
            <a:r>
              <a:rPr lang="ko-KR" altLang="en-US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팔당댐 홍수 </a:t>
            </a:r>
            <a:r>
              <a:rPr lang="ko-KR" altLang="en-US" sz="1400" dirty="0" err="1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안전운영에</a:t>
            </a:r>
            <a:r>
              <a:rPr lang="ko-KR" altLang="en-US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따른 한강 </a:t>
            </a:r>
            <a:r>
              <a:rPr lang="ko-KR" altLang="en-US" sz="1400" dirty="0" err="1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수위예측</a:t>
            </a:r>
            <a:r>
              <a:rPr lang="ko-KR" altLang="en-US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</a:t>
            </a:r>
            <a:r>
              <a:rPr lang="en-US" altLang="ko-KR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AI </a:t>
            </a:r>
            <a:r>
              <a:rPr lang="ko-KR" altLang="en-US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경진대회</a:t>
            </a:r>
            <a:r>
              <a:rPr lang="en-US" altLang="ko-KR" sz="14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]</a:t>
            </a:r>
            <a:endParaRPr lang="ko-KR" altLang="en-US" sz="800" dirty="0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A6EE78-7036-4806-8081-BF0C71065326}"/>
              </a:ext>
            </a:extLst>
          </p:cNvPr>
          <p:cNvSpPr txBox="1"/>
          <p:nvPr/>
        </p:nvSpPr>
        <p:spPr>
          <a:xfrm>
            <a:off x="395288" y="1878148"/>
            <a:ext cx="293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예측 과정 설명</a:t>
            </a:r>
            <a:endParaRPr lang="ko-KR" altLang="en-US" sz="1600" dirty="0"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9FC28AC-F03E-450C-A40B-C0E3650831E0}"/>
              </a:ext>
            </a:extLst>
          </p:cNvPr>
          <p:cNvGrpSpPr/>
          <p:nvPr/>
        </p:nvGrpSpPr>
        <p:grpSpPr>
          <a:xfrm>
            <a:off x="4616994" y="75352"/>
            <a:ext cx="4454704" cy="6721685"/>
            <a:chOff x="4608286" y="0"/>
            <a:chExt cx="4454704" cy="6721685"/>
          </a:xfrm>
        </p:grpSpPr>
        <p:pic>
          <p:nvPicPr>
            <p:cNvPr id="142" name="그래픽 141" descr="흑백">
              <a:extLst>
                <a:ext uri="{FF2B5EF4-FFF2-40B4-BE49-F238E27FC236}">
                  <a16:creationId xmlns:a16="http://schemas.microsoft.com/office/drawing/2014/main" id="{74206A1C-BED2-4592-A890-D0F21ACEA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08286" y="214086"/>
              <a:ext cx="849085" cy="849085"/>
            </a:xfrm>
            <a:prstGeom prst="rect">
              <a:avLst/>
            </a:prstGeom>
          </p:spPr>
        </p:pic>
        <p:pic>
          <p:nvPicPr>
            <p:cNvPr id="144" name="그래픽 143" descr="덮인 책">
              <a:extLst>
                <a:ext uri="{FF2B5EF4-FFF2-40B4-BE49-F238E27FC236}">
                  <a16:creationId xmlns:a16="http://schemas.microsoft.com/office/drawing/2014/main" id="{1F94C609-8FAD-43AB-9678-36B67D50D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87200" y="2062257"/>
              <a:ext cx="914400" cy="914400"/>
            </a:xfrm>
            <a:prstGeom prst="rect">
              <a:avLst/>
            </a:prstGeom>
          </p:spPr>
        </p:pic>
        <p:pic>
          <p:nvPicPr>
            <p:cNvPr id="146" name="그래픽 145" descr="펼쳐진 책">
              <a:extLst>
                <a:ext uri="{FF2B5EF4-FFF2-40B4-BE49-F238E27FC236}">
                  <a16:creationId xmlns:a16="http://schemas.microsoft.com/office/drawing/2014/main" id="{AA628FE2-F821-4956-A048-8B945DA9C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686324">
              <a:off x="7765143" y="2569029"/>
              <a:ext cx="775342" cy="775342"/>
            </a:xfrm>
            <a:prstGeom prst="rect">
              <a:avLst/>
            </a:prstGeom>
          </p:spPr>
        </p:pic>
        <p:pic>
          <p:nvPicPr>
            <p:cNvPr id="148" name="그래픽 147" descr="연필">
              <a:extLst>
                <a:ext uri="{FF2B5EF4-FFF2-40B4-BE49-F238E27FC236}">
                  <a16:creationId xmlns:a16="http://schemas.microsoft.com/office/drawing/2014/main" id="{BB913767-89CA-4B7B-A9D0-7932BA3B0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90103" y="577668"/>
              <a:ext cx="707628" cy="707628"/>
            </a:xfrm>
            <a:prstGeom prst="rect">
              <a:avLst/>
            </a:prstGeom>
          </p:spPr>
        </p:pic>
        <p:pic>
          <p:nvPicPr>
            <p:cNvPr id="150" name="그래픽 149" descr="지우개">
              <a:extLst>
                <a:ext uri="{FF2B5EF4-FFF2-40B4-BE49-F238E27FC236}">
                  <a16:creationId xmlns:a16="http://schemas.microsoft.com/office/drawing/2014/main" id="{9C22EE8C-70F3-42B1-A780-6BD8FDE43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53200" y="1001485"/>
              <a:ext cx="668943" cy="668943"/>
            </a:xfrm>
            <a:prstGeom prst="rect">
              <a:avLst/>
            </a:prstGeom>
          </p:spPr>
        </p:pic>
        <p:pic>
          <p:nvPicPr>
            <p:cNvPr id="152" name="그래픽 151" descr="눈금자">
              <a:extLst>
                <a:ext uri="{FF2B5EF4-FFF2-40B4-BE49-F238E27FC236}">
                  <a16:creationId xmlns:a16="http://schemas.microsoft.com/office/drawing/2014/main" id="{ADE6D9AF-DC26-4A55-8BFC-08BA0935B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95085" y="4113685"/>
              <a:ext cx="914400" cy="914400"/>
            </a:xfrm>
            <a:prstGeom prst="rect">
              <a:avLst/>
            </a:prstGeom>
          </p:spPr>
        </p:pic>
        <p:pic>
          <p:nvPicPr>
            <p:cNvPr id="154" name="그래픽 153" descr="가위">
              <a:extLst>
                <a:ext uri="{FF2B5EF4-FFF2-40B4-BE49-F238E27FC236}">
                  <a16:creationId xmlns:a16="http://schemas.microsoft.com/office/drawing/2014/main" id="{1F5BF47C-4E40-4BDC-ACB1-90195BEA0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322571" y="0"/>
              <a:ext cx="631257" cy="631257"/>
            </a:xfrm>
            <a:prstGeom prst="rect">
              <a:avLst/>
            </a:prstGeom>
          </p:spPr>
        </p:pic>
        <p:pic>
          <p:nvPicPr>
            <p:cNvPr id="156" name="그래픽 155" descr="선반 위의 책">
              <a:extLst>
                <a:ext uri="{FF2B5EF4-FFF2-40B4-BE49-F238E27FC236}">
                  <a16:creationId xmlns:a16="http://schemas.microsoft.com/office/drawing/2014/main" id="{E60AD439-6CB6-494C-A03F-32833F886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64571" y="2249713"/>
              <a:ext cx="639971" cy="639971"/>
            </a:xfrm>
            <a:prstGeom prst="rect">
              <a:avLst/>
            </a:prstGeom>
          </p:spPr>
        </p:pic>
        <p:pic>
          <p:nvPicPr>
            <p:cNvPr id="158" name="그래픽 157" descr="서적">
              <a:extLst>
                <a:ext uri="{FF2B5EF4-FFF2-40B4-BE49-F238E27FC236}">
                  <a16:creationId xmlns:a16="http://schemas.microsoft.com/office/drawing/2014/main" id="{417DB5FC-6637-473A-8C9D-02AF476FA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20885155">
              <a:off x="5314800" y="4171800"/>
              <a:ext cx="914400" cy="914400"/>
            </a:xfrm>
            <a:prstGeom prst="rect">
              <a:avLst/>
            </a:prstGeom>
          </p:spPr>
        </p:pic>
        <p:pic>
          <p:nvPicPr>
            <p:cNvPr id="160" name="그래픽 159" descr="시계">
              <a:extLst>
                <a:ext uri="{FF2B5EF4-FFF2-40B4-BE49-F238E27FC236}">
                  <a16:creationId xmlns:a16="http://schemas.microsoft.com/office/drawing/2014/main" id="{2FF33D80-B45A-4152-9591-E91591C92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237028" y="696684"/>
              <a:ext cx="519057" cy="519057"/>
            </a:xfrm>
            <a:prstGeom prst="rect">
              <a:avLst/>
            </a:prstGeom>
          </p:spPr>
        </p:pic>
        <p:pic>
          <p:nvPicPr>
            <p:cNvPr id="162" name="그래픽 161" descr="지구본">
              <a:extLst>
                <a:ext uri="{FF2B5EF4-FFF2-40B4-BE49-F238E27FC236}">
                  <a16:creationId xmlns:a16="http://schemas.microsoft.com/office/drawing/2014/main" id="{5D2D1C3E-8E7E-4570-B8FB-15FC8D55B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761428" y="3513857"/>
              <a:ext cx="914400" cy="914400"/>
            </a:xfrm>
            <a:prstGeom prst="rect">
              <a:avLst/>
            </a:prstGeom>
          </p:spPr>
        </p:pic>
        <p:pic>
          <p:nvPicPr>
            <p:cNvPr id="164" name="그래픽 163" descr="종">
              <a:extLst>
                <a:ext uri="{FF2B5EF4-FFF2-40B4-BE49-F238E27FC236}">
                  <a16:creationId xmlns:a16="http://schemas.microsoft.com/office/drawing/2014/main" id="{92E8C255-3CA2-43F3-966E-33E39BBAE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024572" y="1605457"/>
              <a:ext cx="563428" cy="563428"/>
            </a:xfrm>
            <a:prstGeom prst="rect">
              <a:avLst/>
            </a:prstGeom>
          </p:spPr>
        </p:pic>
        <p:pic>
          <p:nvPicPr>
            <p:cNvPr id="166" name="그래픽 165" descr="백팩">
              <a:extLst>
                <a:ext uri="{FF2B5EF4-FFF2-40B4-BE49-F238E27FC236}">
                  <a16:creationId xmlns:a16="http://schemas.microsoft.com/office/drawing/2014/main" id="{25C2C876-694C-4B57-A939-95DA47262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8120972" y="5272770"/>
              <a:ext cx="616629" cy="616629"/>
            </a:xfrm>
            <a:prstGeom prst="rect">
              <a:avLst/>
            </a:prstGeom>
          </p:spPr>
        </p:pic>
        <p:pic>
          <p:nvPicPr>
            <p:cNvPr id="168" name="그래픽 167" descr="비커">
              <a:extLst>
                <a:ext uri="{FF2B5EF4-FFF2-40B4-BE49-F238E27FC236}">
                  <a16:creationId xmlns:a16="http://schemas.microsoft.com/office/drawing/2014/main" id="{4360622B-3CD3-428E-9054-226F4C85E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5205554" y="5405120"/>
              <a:ext cx="654600" cy="654600"/>
            </a:xfrm>
            <a:prstGeom prst="rect">
              <a:avLst/>
            </a:prstGeom>
          </p:spPr>
        </p:pic>
        <p:pic>
          <p:nvPicPr>
            <p:cNvPr id="170" name="그래픽 169" descr="플라스크">
              <a:extLst>
                <a:ext uri="{FF2B5EF4-FFF2-40B4-BE49-F238E27FC236}">
                  <a16:creationId xmlns:a16="http://schemas.microsoft.com/office/drawing/2014/main" id="{19753661-5C91-4898-A671-9701813C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 rot="21040700">
              <a:off x="5111714" y="3126668"/>
              <a:ext cx="664972" cy="664972"/>
            </a:xfrm>
            <a:prstGeom prst="rect">
              <a:avLst/>
            </a:prstGeom>
          </p:spPr>
        </p:pic>
        <p:pic>
          <p:nvPicPr>
            <p:cNvPr id="172" name="그래픽 171" descr="현미경">
              <a:extLst>
                <a:ext uri="{FF2B5EF4-FFF2-40B4-BE49-F238E27FC236}">
                  <a16:creationId xmlns:a16="http://schemas.microsoft.com/office/drawing/2014/main" id="{A26584AC-9832-4B97-9077-C17F94422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 rot="433081">
              <a:off x="6335771" y="4735856"/>
              <a:ext cx="790743" cy="790743"/>
            </a:xfrm>
            <a:prstGeom prst="rect">
              <a:avLst/>
            </a:prstGeom>
          </p:spPr>
        </p:pic>
        <p:pic>
          <p:nvPicPr>
            <p:cNvPr id="174" name="그래픽 173" descr="시험관">
              <a:extLst>
                <a:ext uri="{FF2B5EF4-FFF2-40B4-BE49-F238E27FC236}">
                  <a16:creationId xmlns:a16="http://schemas.microsoft.com/office/drawing/2014/main" id="{C12DBEA3-03F1-48CC-99C7-3A005E30C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 rot="997930">
              <a:off x="6050343" y="3424771"/>
              <a:ext cx="437544" cy="437544"/>
            </a:xfrm>
            <a:prstGeom prst="rect">
              <a:avLst/>
            </a:prstGeom>
          </p:spPr>
        </p:pic>
        <p:pic>
          <p:nvPicPr>
            <p:cNvPr id="176" name="그래픽 175" descr="자석">
              <a:extLst>
                <a:ext uri="{FF2B5EF4-FFF2-40B4-BE49-F238E27FC236}">
                  <a16:creationId xmlns:a16="http://schemas.microsoft.com/office/drawing/2014/main" id="{CF851605-395D-4E2F-A79C-3EE612B00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976823" y="6113416"/>
              <a:ext cx="456314" cy="456314"/>
            </a:xfrm>
            <a:prstGeom prst="rect">
              <a:avLst/>
            </a:prstGeom>
          </p:spPr>
        </p:pic>
        <p:pic>
          <p:nvPicPr>
            <p:cNvPr id="178" name="그래픽 177" descr="ATOM">
              <a:extLst>
                <a:ext uri="{FF2B5EF4-FFF2-40B4-BE49-F238E27FC236}">
                  <a16:creationId xmlns:a16="http://schemas.microsoft.com/office/drawing/2014/main" id="{63459A88-B544-4CAB-AE2E-979FBECD5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617406" y="5750176"/>
              <a:ext cx="914400" cy="914400"/>
            </a:xfrm>
            <a:prstGeom prst="rect">
              <a:avLst/>
            </a:prstGeom>
          </p:spPr>
        </p:pic>
        <p:pic>
          <p:nvPicPr>
            <p:cNvPr id="180" name="그래픽 179" descr="망원경">
              <a:extLst>
                <a:ext uri="{FF2B5EF4-FFF2-40B4-BE49-F238E27FC236}">
                  <a16:creationId xmlns:a16="http://schemas.microsoft.com/office/drawing/2014/main" id="{0DA57F83-49C3-45DA-A94F-1C56FB23B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7617943" y="6139056"/>
              <a:ext cx="582629" cy="582629"/>
            </a:xfrm>
            <a:prstGeom prst="rect">
              <a:avLst/>
            </a:prstGeom>
          </p:spPr>
        </p:pic>
        <p:pic>
          <p:nvPicPr>
            <p:cNvPr id="182" name="그래픽 181" descr="행성">
              <a:extLst>
                <a:ext uri="{FF2B5EF4-FFF2-40B4-BE49-F238E27FC236}">
                  <a16:creationId xmlns:a16="http://schemas.microsoft.com/office/drawing/2014/main" id="{7F9E3F9C-20C0-4299-9DE4-C254F95A8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7956628" y="1727201"/>
              <a:ext cx="688600" cy="688600"/>
            </a:xfrm>
            <a:prstGeom prst="rect">
              <a:avLst/>
            </a:prstGeom>
          </p:spPr>
        </p:pic>
        <p:pic>
          <p:nvPicPr>
            <p:cNvPr id="184" name="그래픽 183" descr="태양계">
              <a:extLst>
                <a:ext uri="{FF2B5EF4-FFF2-40B4-BE49-F238E27FC236}">
                  <a16:creationId xmlns:a16="http://schemas.microsoft.com/office/drawing/2014/main" id="{E1C4ED65-2B39-4811-A09E-A89D027FB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7467999" y="5200543"/>
              <a:ext cx="442286" cy="442286"/>
            </a:xfrm>
            <a:prstGeom prst="rect">
              <a:avLst/>
            </a:prstGeom>
          </p:spPr>
        </p:pic>
        <p:pic>
          <p:nvPicPr>
            <p:cNvPr id="186" name="그래픽 185" descr="강의실">
              <a:extLst>
                <a:ext uri="{FF2B5EF4-FFF2-40B4-BE49-F238E27FC236}">
                  <a16:creationId xmlns:a16="http://schemas.microsoft.com/office/drawing/2014/main" id="{0EC757FC-4E7D-447F-8E0A-2592876A3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6369772" y="1392999"/>
              <a:ext cx="568057" cy="568057"/>
            </a:xfrm>
            <a:prstGeom prst="rect">
              <a:avLst/>
            </a:prstGeom>
          </p:spPr>
        </p:pic>
        <p:pic>
          <p:nvPicPr>
            <p:cNvPr id="188" name="그래픽 187" descr="수학">
              <a:extLst>
                <a:ext uri="{FF2B5EF4-FFF2-40B4-BE49-F238E27FC236}">
                  <a16:creationId xmlns:a16="http://schemas.microsoft.com/office/drawing/2014/main" id="{4E291735-270E-4145-B671-0670849B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rot="1285985">
              <a:off x="8188915" y="3541486"/>
              <a:ext cx="543513" cy="543513"/>
            </a:xfrm>
            <a:prstGeom prst="rect">
              <a:avLst/>
            </a:prstGeom>
          </p:spPr>
        </p:pic>
        <p:pic>
          <p:nvPicPr>
            <p:cNvPr id="192" name="그래픽 191" descr="학사모">
              <a:extLst>
                <a:ext uri="{FF2B5EF4-FFF2-40B4-BE49-F238E27FC236}">
                  <a16:creationId xmlns:a16="http://schemas.microsoft.com/office/drawing/2014/main" id="{9903030A-2A1F-4833-A639-9C56F9D1F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8358286" y="6168313"/>
              <a:ext cx="524457" cy="524457"/>
            </a:xfrm>
            <a:prstGeom prst="rect">
              <a:avLst/>
            </a:prstGeom>
          </p:spPr>
        </p:pic>
        <p:pic>
          <p:nvPicPr>
            <p:cNvPr id="195" name="그래픽 194" descr="태양계">
              <a:extLst>
                <a:ext uri="{FF2B5EF4-FFF2-40B4-BE49-F238E27FC236}">
                  <a16:creationId xmlns:a16="http://schemas.microsoft.com/office/drawing/2014/main" id="{9B31D7BB-14F4-4A7C-8AB4-0FE879EC6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5131199" y="2544429"/>
              <a:ext cx="442286" cy="442286"/>
            </a:xfrm>
            <a:prstGeom prst="rect">
              <a:avLst/>
            </a:prstGeom>
          </p:spPr>
        </p:pic>
        <p:pic>
          <p:nvPicPr>
            <p:cNvPr id="196" name="그래픽 195" descr="태양계">
              <a:extLst>
                <a:ext uri="{FF2B5EF4-FFF2-40B4-BE49-F238E27FC236}">
                  <a16:creationId xmlns:a16="http://schemas.microsoft.com/office/drawing/2014/main" id="{08876F28-24CB-4D4A-95A5-C117FC21D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6814857" y="686600"/>
              <a:ext cx="442286" cy="442286"/>
            </a:xfrm>
            <a:prstGeom prst="rect">
              <a:avLst/>
            </a:prstGeom>
          </p:spPr>
        </p:pic>
        <p:pic>
          <p:nvPicPr>
            <p:cNvPr id="3" name="그래픽 2" descr="브라유 점자">
              <a:extLst>
                <a:ext uri="{FF2B5EF4-FFF2-40B4-BE49-F238E27FC236}">
                  <a16:creationId xmlns:a16="http://schemas.microsoft.com/office/drawing/2014/main" id="{9CB5EA7A-E9E0-4B5A-B8EC-AEFCFE1BB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 rot="20184451">
              <a:off x="5216113" y="896855"/>
              <a:ext cx="645731" cy="645731"/>
            </a:xfrm>
            <a:prstGeom prst="rect">
              <a:avLst/>
            </a:prstGeom>
          </p:spPr>
        </p:pic>
        <p:pic>
          <p:nvPicPr>
            <p:cNvPr id="35" name="그래픽 34" descr="브라유 점자">
              <a:extLst>
                <a:ext uri="{FF2B5EF4-FFF2-40B4-BE49-F238E27FC236}">
                  <a16:creationId xmlns:a16="http://schemas.microsoft.com/office/drawing/2014/main" id="{44073D97-CE1A-49C3-A633-E01ACEC77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 rot="20184451">
              <a:off x="6496273" y="2917244"/>
              <a:ext cx="645731" cy="645731"/>
            </a:xfrm>
            <a:prstGeom prst="rect">
              <a:avLst/>
            </a:prstGeom>
          </p:spPr>
        </p:pic>
        <p:pic>
          <p:nvPicPr>
            <p:cNvPr id="36" name="그래픽 35" descr="브라유 점자">
              <a:extLst>
                <a:ext uri="{FF2B5EF4-FFF2-40B4-BE49-F238E27FC236}">
                  <a16:creationId xmlns:a16="http://schemas.microsoft.com/office/drawing/2014/main" id="{D6C5F756-C5CB-46B2-8398-2B7428FB2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 rot="1031610">
              <a:off x="5834420" y="5251140"/>
              <a:ext cx="645731" cy="645731"/>
            </a:xfrm>
            <a:prstGeom prst="rect">
              <a:avLst/>
            </a:prstGeom>
          </p:spPr>
        </p:pic>
        <p:pic>
          <p:nvPicPr>
            <p:cNvPr id="37" name="그래픽 36" descr="브라유 점자">
              <a:extLst>
                <a:ext uri="{FF2B5EF4-FFF2-40B4-BE49-F238E27FC236}">
                  <a16:creationId xmlns:a16="http://schemas.microsoft.com/office/drawing/2014/main" id="{C21048FF-BD3A-48DE-832C-E9AE94DA8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 rot="1031610">
              <a:off x="8417259" y="4563163"/>
              <a:ext cx="645731" cy="645731"/>
            </a:xfrm>
            <a:prstGeom prst="rect">
              <a:avLst/>
            </a:prstGeom>
          </p:spPr>
        </p:pic>
        <p:pic>
          <p:nvPicPr>
            <p:cNvPr id="5" name="그래픽 4" descr="별">
              <a:extLst>
                <a:ext uri="{FF2B5EF4-FFF2-40B4-BE49-F238E27FC236}">
                  <a16:creationId xmlns:a16="http://schemas.microsoft.com/office/drawing/2014/main" id="{2226B4C7-E216-4C93-97F2-85AB3CAD8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4872445" y="990599"/>
              <a:ext cx="291737" cy="291737"/>
            </a:xfrm>
            <a:prstGeom prst="rect">
              <a:avLst/>
            </a:prstGeom>
          </p:spPr>
        </p:pic>
        <p:pic>
          <p:nvPicPr>
            <p:cNvPr id="40" name="그래픽 39" descr="별">
              <a:extLst>
                <a:ext uri="{FF2B5EF4-FFF2-40B4-BE49-F238E27FC236}">
                  <a16:creationId xmlns:a16="http://schemas.microsoft.com/office/drawing/2014/main" id="{EE947514-FC65-4519-86B7-941FDA218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7528560" y="1826621"/>
              <a:ext cx="291737" cy="291737"/>
            </a:xfrm>
            <a:prstGeom prst="rect">
              <a:avLst/>
            </a:prstGeom>
          </p:spPr>
        </p:pic>
        <p:pic>
          <p:nvPicPr>
            <p:cNvPr id="41" name="그래픽 40" descr="별">
              <a:extLst>
                <a:ext uri="{FF2B5EF4-FFF2-40B4-BE49-F238E27FC236}">
                  <a16:creationId xmlns:a16="http://schemas.microsoft.com/office/drawing/2014/main" id="{F6CA9E4F-B63F-4ED0-96B4-44A85C016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7754983" y="3489958"/>
              <a:ext cx="291737" cy="291737"/>
            </a:xfrm>
            <a:prstGeom prst="rect">
              <a:avLst/>
            </a:prstGeom>
          </p:spPr>
        </p:pic>
        <p:pic>
          <p:nvPicPr>
            <p:cNvPr id="42" name="그래픽 41" descr="별">
              <a:extLst>
                <a:ext uri="{FF2B5EF4-FFF2-40B4-BE49-F238E27FC236}">
                  <a16:creationId xmlns:a16="http://schemas.microsoft.com/office/drawing/2014/main" id="{13054DB5-3699-4220-B399-5AAF16EFF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6344194" y="4212770"/>
              <a:ext cx="291737" cy="291737"/>
            </a:xfrm>
            <a:prstGeom prst="rect">
              <a:avLst/>
            </a:prstGeom>
          </p:spPr>
        </p:pic>
        <p:pic>
          <p:nvPicPr>
            <p:cNvPr id="43" name="그래픽 42" descr="별">
              <a:extLst>
                <a:ext uri="{FF2B5EF4-FFF2-40B4-BE49-F238E27FC236}">
                  <a16:creationId xmlns:a16="http://schemas.microsoft.com/office/drawing/2014/main" id="{D97341B1-B666-4A9A-A20A-2128071B9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4881154" y="5240381"/>
              <a:ext cx="291737" cy="291737"/>
            </a:xfrm>
            <a:prstGeom prst="rect">
              <a:avLst/>
            </a:prstGeom>
          </p:spPr>
        </p:pic>
        <p:pic>
          <p:nvPicPr>
            <p:cNvPr id="44" name="그래픽 43" descr="별">
              <a:extLst>
                <a:ext uri="{FF2B5EF4-FFF2-40B4-BE49-F238E27FC236}">
                  <a16:creationId xmlns:a16="http://schemas.microsoft.com/office/drawing/2014/main" id="{EE708EE2-D87D-42F3-AF14-F000C717D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5612674" y="6398621"/>
              <a:ext cx="291737" cy="291737"/>
            </a:xfrm>
            <a:prstGeom prst="rect">
              <a:avLst/>
            </a:prstGeom>
          </p:spPr>
        </p:pic>
        <p:pic>
          <p:nvPicPr>
            <p:cNvPr id="45" name="그래픽 44" descr="별">
              <a:extLst>
                <a:ext uri="{FF2B5EF4-FFF2-40B4-BE49-F238E27FC236}">
                  <a16:creationId xmlns:a16="http://schemas.microsoft.com/office/drawing/2014/main" id="{C5CFAE16-FD2C-4591-A0B3-B5A0F0946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8251371" y="163284"/>
              <a:ext cx="291737" cy="291737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1E824FD-E6E7-4264-AF9D-AA33043A8201}"/>
              </a:ext>
            </a:extLst>
          </p:cNvPr>
          <p:cNvSpPr txBox="1"/>
          <p:nvPr/>
        </p:nvSpPr>
        <p:spPr>
          <a:xfrm>
            <a:off x="395288" y="3645988"/>
            <a:ext cx="917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2022. 9. 12.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5A43F0-14FA-4824-B561-7466A31794C3}"/>
              </a:ext>
            </a:extLst>
          </p:cNvPr>
          <p:cNvSpPr txBox="1"/>
          <p:nvPr/>
        </p:nvSpPr>
        <p:spPr>
          <a:xfrm>
            <a:off x="395288" y="3898537"/>
            <a:ext cx="26452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참가팀명</a:t>
            </a:r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: </a:t>
            </a:r>
            <a:r>
              <a:rPr lang="ko-KR" alt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쿠마리코지카후원회동남지부장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86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6360C16-BFBB-4DAC-9D45-046322F1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27F64A-4089-4BF3-A9BA-023D479CE65F}"/>
              </a:ext>
            </a:extLst>
          </p:cNvPr>
          <p:cNvSpPr txBox="1"/>
          <p:nvPr/>
        </p:nvSpPr>
        <p:spPr>
          <a:xfrm>
            <a:off x="272869" y="179977"/>
            <a:ext cx="87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solidFill>
                  <a:srgbClr val="238AAF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예측 과정 설명</a:t>
            </a:r>
            <a:endParaRPr lang="ko-KR" altLang="en-US" sz="900" dirty="0">
              <a:solidFill>
                <a:srgbClr val="238AAF"/>
              </a:solidFill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084AF-A737-40AC-BA99-EA45D6691A22}"/>
              </a:ext>
            </a:extLst>
          </p:cNvPr>
          <p:cNvSpPr txBox="1"/>
          <p:nvPr/>
        </p:nvSpPr>
        <p:spPr>
          <a:xfrm>
            <a:off x="272869" y="449942"/>
            <a:ext cx="1478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목 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D903E-6E2C-472C-9A1B-D6B031C640A7}"/>
              </a:ext>
            </a:extLst>
          </p:cNvPr>
          <p:cNvSpPr txBox="1"/>
          <p:nvPr/>
        </p:nvSpPr>
        <p:spPr>
          <a:xfrm>
            <a:off x="272869" y="1146627"/>
            <a:ext cx="15905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800" dirty="0">
                <a:solidFill>
                  <a:schemeClr val="bg1">
                    <a:lumMod val="50000"/>
                  </a:schemeClr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contents</a:t>
            </a:r>
            <a:endParaRPr lang="ko-KR" altLang="en-US" sz="1100" spc="800" dirty="0">
              <a:solidFill>
                <a:schemeClr val="bg1">
                  <a:lumMod val="50000"/>
                </a:schemeClr>
              </a:solidFill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2D906EC-58EE-4065-B775-68991FC98604}"/>
              </a:ext>
            </a:extLst>
          </p:cNvPr>
          <p:cNvCxnSpPr>
            <a:cxnSpLocks/>
          </p:cNvCxnSpPr>
          <p:nvPr/>
        </p:nvCxnSpPr>
        <p:spPr>
          <a:xfrm>
            <a:off x="348343" y="466997"/>
            <a:ext cx="2934788" cy="0"/>
          </a:xfrm>
          <a:prstGeom prst="line">
            <a:avLst/>
          </a:prstGeom>
          <a:ln>
            <a:solidFill>
              <a:srgbClr val="87C3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C51899AB-3781-4D14-818E-6760046FA42F}"/>
              </a:ext>
            </a:extLst>
          </p:cNvPr>
          <p:cNvSpPr/>
          <p:nvPr/>
        </p:nvSpPr>
        <p:spPr>
          <a:xfrm>
            <a:off x="330925" y="452847"/>
            <a:ext cx="45719" cy="45719"/>
          </a:xfrm>
          <a:prstGeom prst="ellipse">
            <a:avLst/>
          </a:prstGeom>
          <a:solidFill>
            <a:srgbClr val="87C3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F20EF11-2E20-4A21-ABD9-4B59C4D6CF35}"/>
              </a:ext>
            </a:extLst>
          </p:cNvPr>
          <p:cNvGrpSpPr/>
          <p:nvPr/>
        </p:nvGrpSpPr>
        <p:grpSpPr>
          <a:xfrm>
            <a:off x="2708366" y="1367244"/>
            <a:ext cx="6244045" cy="1053737"/>
            <a:chOff x="2708366" y="1367244"/>
            <a:chExt cx="6244045" cy="105373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7BE9B8C-62D8-435C-8437-B7AC7EB0F4DC}"/>
                </a:ext>
              </a:extLst>
            </p:cNvPr>
            <p:cNvSpPr/>
            <p:nvPr/>
          </p:nvSpPr>
          <p:spPr>
            <a:xfrm>
              <a:off x="2960915" y="1550126"/>
              <a:ext cx="731520" cy="235131"/>
            </a:xfrm>
            <a:prstGeom prst="roundRect">
              <a:avLst>
                <a:gd name="adj" fmla="val 50000"/>
              </a:avLst>
            </a:prstGeom>
            <a:solidFill>
              <a:srgbClr val="0F6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7EA2F687-A70D-405D-BBCA-2EC63DD4D27A}"/>
                </a:ext>
              </a:extLst>
            </p:cNvPr>
            <p:cNvSpPr/>
            <p:nvPr/>
          </p:nvSpPr>
          <p:spPr>
            <a:xfrm rot="16200000">
              <a:off x="5303520" y="-1227910"/>
              <a:ext cx="1053737" cy="62440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6273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B22B13-B5E6-43E0-BF88-D7D583B8B6C9}"/>
                </a:ext>
              </a:extLst>
            </p:cNvPr>
            <p:cNvSpPr txBox="1"/>
            <p:nvPr/>
          </p:nvSpPr>
          <p:spPr>
            <a:xfrm>
              <a:off x="2960913" y="1532710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Chapter</a:t>
              </a:r>
              <a:endParaRPr lang="ko-KR" altLang="en-US" sz="1200" dirty="0">
                <a:solidFill>
                  <a:schemeClr val="bg1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56A87C-08CF-424E-A804-C876311305FE}"/>
                </a:ext>
              </a:extLst>
            </p:cNvPr>
            <p:cNvSpPr txBox="1"/>
            <p:nvPr/>
          </p:nvSpPr>
          <p:spPr>
            <a:xfrm>
              <a:off x="2987039" y="1776550"/>
              <a:ext cx="6690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01</a:t>
              </a:r>
              <a:endPara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B7C0CF-FA58-4DC2-8814-DAF2AE46E7F5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21" y="1541417"/>
              <a:ext cx="0" cy="722812"/>
            </a:xfrm>
            <a:prstGeom prst="line">
              <a:avLst/>
            </a:prstGeom>
            <a:ln w="28575">
              <a:solidFill>
                <a:srgbClr val="0F62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F098C9-7A03-465C-B931-B36090288A03}"/>
                </a:ext>
              </a:extLst>
            </p:cNvPr>
            <p:cNvSpPr txBox="1"/>
            <p:nvPr/>
          </p:nvSpPr>
          <p:spPr>
            <a:xfrm>
              <a:off x="3840479" y="1550128"/>
              <a:ext cx="16578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데이터 수집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33A12C-6ECB-46AF-8FD5-3161AD19C2BC}"/>
                </a:ext>
              </a:extLst>
            </p:cNvPr>
            <p:cNvSpPr txBox="1"/>
            <p:nvPr/>
          </p:nvSpPr>
          <p:spPr>
            <a:xfrm>
              <a:off x="3840479" y="1976848"/>
              <a:ext cx="23711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OpenAPI</a:t>
              </a:r>
              <a:r>
                <a:rPr lang="ko-KR" altLang="en-US" sz="1200" dirty="0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를 통한 데이터 추가 수집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E3CFC55-CB2C-4D4D-91F6-D83AD4D32010}"/>
              </a:ext>
            </a:extLst>
          </p:cNvPr>
          <p:cNvGrpSpPr/>
          <p:nvPr/>
        </p:nvGrpSpPr>
        <p:grpSpPr>
          <a:xfrm>
            <a:off x="2708366" y="2653209"/>
            <a:ext cx="6244045" cy="1053737"/>
            <a:chOff x="2708366" y="1367244"/>
            <a:chExt cx="6244045" cy="1053737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9C4282B6-DE0B-4F5E-842B-1ACED8A90975}"/>
                </a:ext>
              </a:extLst>
            </p:cNvPr>
            <p:cNvSpPr/>
            <p:nvPr/>
          </p:nvSpPr>
          <p:spPr>
            <a:xfrm>
              <a:off x="2960915" y="1550126"/>
              <a:ext cx="731520" cy="235131"/>
            </a:xfrm>
            <a:prstGeom prst="roundRect">
              <a:avLst>
                <a:gd name="adj" fmla="val 50000"/>
              </a:avLst>
            </a:prstGeom>
            <a:solidFill>
              <a:srgbClr val="0F6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7C0860A7-1633-4985-B2D0-8A0A07806B6F}"/>
                </a:ext>
              </a:extLst>
            </p:cNvPr>
            <p:cNvSpPr/>
            <p:nvPr/>
          </p:nvSpPr>
          <p:spPr>
            <a:xfrm rot="16200000">
              <a:off x="5303520" y="-1227910"/>
              <a:ext cx="1053737" cy="62440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6273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5D0700-4EB7-47E2-9AB9-95953A4F1180}"/>
                </a:ext>
              </a:extLst>
            </p:cNvPr>
            <p:cNvSpPr txBox="1"/>
            <p:nvPr/>
          </p:nvSpPr>
          <p:spPr>
            <a:xfrm>
              <a:off x="2960913" y="1532710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Chapter</a:t>
              </a:r>
              <a:endParaRPr lang="ko-KR" altLang="en-US" sz="1200" dirty="0">
                <a:solidFill>
                  <a:schemeClr val="bg1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F2B32D-F7F7-4BB1-916B-761B12087C63}"/>
                </a:ext>
              </a:extLst>
            </p:cNvPr>
            <p:cNvSpPr txBox="1"/>
            <p:nvPr/>
          </p:nvSpPr>
          <p:spPr>
            <a:xfrm>
              <a:off x="2987039" y="1776550"/>
              <a:ext cx="7455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02</a:t>
              </a:r>
              <a:endPara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99D7E67-E1FC-4B09-A7E9-9BE7BD06427C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21" y="1541417"/>
              <a:ext cx="0" cy="722812"/>
            </a:xfrm>
            <a:prstGeom prst="line">
              <a:avLst/>
            </a:prstGeom>
            <a:ln w="28575">
              <a:solidFill>
                <a:srgbClr val="0F62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0C6AA6-D358-4FE4-BB72-8F7684199C7B}"/>
                </a:ext>
              </a:extLst>
            </p:cNvPr>
            <p:cNvSpPr txBox="1"/>
            <p:nvPr/>
          </p:nvSpPr>
          <p:spPr>
            <a:xfrm>
              <a:off x="3840479" y="1550128"/>
              <a:ext cx="1380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모형 선택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8A7BD6-322B-4EE5-BC6F-893689FDFF55}"/>
                </a:ext>
              </a:extLst>
            </p:cNvPr>
            <p:cNvSpPr txBox="1"/>
            <p:nvPr/>
          </p:nvSpPr>
          <p:spPr>
            <a:xfrm>
              <a:off x="3840479" y="1976848"/>
              <a:ext cx="17027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부스팅</a:t>
              </a:r>
              <a:r>
                <a:rPr lang="ko-KR" altLang="en-US" sz="1200" dirty="0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 트리</a:t>
              </a:r>
              <a:r>
                <a:rPr lang="en-US" altLang="ko-KR" sz="1200" dirty="0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: </a:t>
              </a:r>
              <a:r>
                <a:rPr lang="en-US" altLang="ko-KR" sz="1200" dirty="0" err="1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LightGBM</a:t>
              </a:r>
              <a:endParaRPr lang="ko-KR" altLang="en-US" sz="1200" dirty="0">
                <a:solidFill>
                  <a:schemeClr val="bg1"/>
                </a:solidFill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C371316-A2AE-4226-BB68-0A31F27CCEB3}"/>
              </a:ext>
            </a:extLst>
          </p:cNvPr>
          <p:cNvGrpSpPr/>
          <p:nvPr/>
        </p:nvGrpSpPr>
        <p:grpSpPr>
          <a:xfrm>
            <a:off x="2708366" y="3939174"/>
            <a:ext cx="6244045" cy="1053737"/>
            <a:chOff x="2708366" y="1367244"/>
            <a:chExt cx="6244045" cy="1053737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78FF259-2C06-4307-9BD1-39E24F458481}"/>
                </a:ext>
              </a:extLst>
            </p:cNvPr>
            <p:cNvSpPr/>
            <p:nvPr/>
          </p:nvSpPr>
          <p:spPr>
            <a:xfrm>
              <a:off x="2960915" y="1550126"/>
              <a:ext cx="731520" cy="235131"/>
            </a:xfrm>
            <a:prstGeom prst="roundRect">
              <a:avLst>
                <a:gd name="adj" fmla="val 50000"/>
              </a:avLst>
            </a:prstGeom>
            <a:solidFill>
              <a:srgbClr val="0F6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사각형: 둥근 위쪽 모서리 32">
              <a:extLst>
                <a:ext uri="{FF2B5EF4-FFF2-40B4-BE49-F238E27FC236}">
                  <a16:creationId xmlns:a16="http://schemas.microsoft.com/office/drawing/2014/main" id="{9B65D20A-0F6B-4660-BCF5-1DEC7CA14F4A}"/>
                </a:ext>
              </a:extLst>
            </p:cNvPr>
            <p:cNvSpPr/>
            <p:nvPr/>
          </p:nvSpPr>
          <p:spPr>
            <a:xfrm rot="16200000">
              <a:off x="5303520" y="-1227910"/>
              <a:ext cx="1053737" cy="62440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6273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B55344-DAA8-4D9F-96AC-9FDDA46E84EA}"/>
                </a:ext>
              </a:extLst>
            </p:cNvPr>
            <p:cNvSpPr txBox="1"/>
            <p:nvPr/>
          </p:nvSpPr>
          <p:spPr>
            <a:xfrm>
              <a:off x="2960913" y="1532710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Chapter</a:t>
              </a:r>
              <a:endParaRPr lang="ko-KR" altLang="en-US" sz="1200" dirty="0">
                <a:solidFill>
                  <a:schemeClr val="bg1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003716-3E9B-4B81-B35B-634F547744C5}"/>
                </a:ext>
              </a:extLst>
            </p:cNvPr>
            <p:cNvSpPr txBox="1"/>
            <p:nvPr/>
          </p:nvSpPr>
          <p:spPr>
            <a:xfrm>
              <a:off x="2987039" y="1776550"/>
              <a:ext cx="7511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03</a:t>
              </a:r>
              <a:endPara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DD18596D-C62D-43A2-A218-8AB60BB2E41F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21" y="1541417"/>
              <a:ext cx="0" cy="722812"/>
            </a:xfrm>
            <a:prstGeom prst="line">
              <a:avLst/>
            </a:prstGeom>
            <a:ln w="28575">
              <a:solidFill>
                <a:srgbClr val="0F62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92E9F9-ACFD-4EE1-BE36-91C54FB52506}"/>
                </a:ext>
              </a:extLst>
            </p:cNvPr>
            <p:cNvSpPr txBox="1"/>
            <p:nvPr/>
          </p:nvSpPr>
          <p:spPr>
            <a:xfrm>
              <a:off x="3840479" y="1550128"/>
              <a:ext cx="1380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특성 추출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9101349-82A8-4B9A-9C7C-88017B6DF313}"/>
                </a:ext>
              </a:extLst>
            </p:cNvPr>
            <p:cNvSpPr txBox="1"/>
            <p:nvPr/>
          </p:nvSpPr>
          <p:spPr>
            <a:xfrm>
              <a:off x="3840479" y="1976848"/>
              <a:ext cx="20938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기초 통계량 추출 및 특성 선별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A3F946-A33C-4EB1-A173-56EE51D1AD8B}"/>
              </a:ext>
            </a:extLst>
          </p:cNvPr>
          <p:cNvGrpSpPr/>
          <p:nvPr/>
        </p:nvGrpSpPr>
        <p:grpSpPr>
          <a:xfrm>
            <a:off x="2708366" y="5225140"/>
            <a:ext cx="6244045" cy="1053737"/>
            <a:chOff x="2708366" y="1367244"/>
            <a:chExt cx="6244045" cy="1053737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E0AEBC06-D34B-4222-B1AE-94B7CFF50B37}"/>
                </a:ext>
              </a:extLst>
            </p:cNvPr>
            <p:cNvSpPr/>
            <p:nvPr/>
          </p:nvSpPr>
          <p:spPr>
            <a:xfrm>
              <a:off x="2960915" y="1550126"/>
              <a:ext cx="731520" cy="235131"/>
            </a:xfrm>
            <a:prstGeom prst="roundRect">
              <a:avLst>
                <a:gd name="adj" fmla="val 50000"/>
              </a:avLst>
            </a:prstGeom>
            <a:solidFill>
              <a:srgbClr val="0F6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23499DE6-C569-4B70-8BC5-820FCEB24189}"/>
                </a:ext>
              </a:extLst>
            </p:cNvPr>
            <p:cNvSpPr/>
            <p:nvPr/>
          </p:nvSpPr>
          <p:spPr>
            <a:xfrm rot="16200000">
              <a:off x="5303520" y="-1227910"/>
              <a:ext cx="1053737" cy="62440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6273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DD5477-5720-4285-B5B0-741267F553C5}"/>
                </a:ext>
              </a:extLst>
            </p:cNvPr>
            <p:cNvSpPr txBox="1"/>
            <p:nvPr/>
          </p:nvSpPr>
          <p:spPr>
            <a:xfrm>
              <a:off x="2960913" y="1532710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Chapter</a:t>
              </a:r>
              <a:endParaRPr lang="ko-KR" altLang="en-US" sz="1200" dirty="0">
                <a:solidFill>
                  <a:schemeClr val="bg1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C1A5B5-B4A3-4E4A-844B-3ACF081234AD}"/>
                </a:ext>
              </a:extLst>
            </p:cNvPr>
            <p:cNvSpPr txBox="1"/>
            <p:nvPr/>
          </p:nvSpPr>
          <p:spPr>
            <a:xfrm>
              <a:off x="2987039" y="1776550"/>
              <a:ext cx="7761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04</a:t>
              </a:r>
              <a:endParaRPr lang="ko-KR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68A2B62-E5FB-4F8C-BA23-62133FE9054D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21" y="1541417"/>
              <a:ext cx="0" cy="722812"/>
            </a:xfrm>
            <a:prstGeom prst="line">
              <a:avLst/>
            </a:prstGeom>
            <a:ln w="28575">
              <a:solidFill>
                <a:srgbClr val="0F62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BFA1207-6B0A-4771-944E-C505974B28B0}"/>
                </a:ext>
              </a:extLst>
            </p:cNvPr>
            <p:cNvSpPr txBox="1"/>
            <p:nvPr/>
          </p:nvSpPr>
          <p:spPr>
            <a:xfrm>
              <a:off x="3840479" y="1550128"/>
              <a:ext cx="27671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하이퍼패러매터</a:t>
              </a:r>
              <a:r>
                <a:rPr lang="ko-KR" alt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 튜닝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099328-71FC-4318-826C-6A5515E0D818}"/>
                </a:ext>
              </a:extLst>
            </p:cNvPr>
            <p:cNvSpPr txBox="1"/>
            <p:nvPr/>
          </p:nvSpPr>
          <p:spPr>
            <a:xfrm>
              <a:off x="3840479" y="1976848"/>
              <a:ext cx="1954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Optuna</a:t>
              </a:r>
              <a:r>
                <a:rPr lang="ko-KR" altLang="en-US" sz="1200" dirty="0">
                  <a:solidFill>
                    <a:schemeClr val="bg1"/>
                  </a:solidFill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를 활용한 랜덤 탐색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0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A62D38-029E-4399-B6C1-205E9FDE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4B493-03D7-49B1-ACA7-37AB417C2137}"/>
              </a:ext>
            </a:extLst>
          </p:cNvPr>
          <p:cNvSpPr txBox="1"/>
          <p:nvPr/>
        </p:nvSpPr>
        <p:spPr>
          <a:xfrm>
            <a:off x="0" y="287383"/>
            <a:ext cx="548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144E62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01</a:t>
            </a:r>
            <a:endParaRPr lang="ko-KR" altLang="en-US" sz="2400" dirty="0">
              <a:solidFill>
                <a:srgbClr val="144E62"/>
              </a:solidFill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AF778-E22F-4010-A5D6-978EEC45A741}"/>
              </a:ext>
            </a:extLst>
          </p:cNvPr>
          <p:cNvSpPr txBox="1"/>
          <p:nvPr/>
        </p:nvSpPr>
        <p:spPr>
          <a:xfrm>
            <a:off x="670562" y="104504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데이터 수집</a:t>
            </a:r>
            <a:endParaRPr lang="ko-KR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5300B1-4B81-4528-A033-1267A6889E4A}"/>
              </a:ext>
            </a:extLst>
          </p:cNvPr>
          <p:cNvGrpSpPr/>
          <p:nvPr/>
        </p:nvGrpSpPr>
        <p:grpSpPr>
          <a:xfrm>
            <a:off x="348344" y="923109"/>
            <a:ext cx="8400369" cy="461665"/>
            <a:chOff x="348344" y="923109"/>
            <a:chExt cx="8400369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2240B4-2BAE-4CB8-82A1-C817A2093B76}"/>
                </a:ext>
              </a:extLst>
            </p:cNvPr>
            <p:cNvSpPr txBox="1"/>
            <p:nvPr/>
          </p:nvSpPr>
          <p:spPr>
            <a:xfrm>
              <a:off x="348344" y="923109"/>
              <a:ext cx="47436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400">
                  <a:gradFill>
                    <a:gsLst>
                      <a:gs pos="0">
                        <a:srgbClr val="1E65BC"/>
                      </a:gs>
                      <a:gs pos="98000">
                        <a:srgbClr val="3A9CB0"/>
                      </a:gs>
                    </a:gsLst>
                    <a:lin ang="5400000" scaled="1"/>
                  </a:gradFill>
                  <a:latin typeface="한수원 한돋움OTF" panose="020B0600000101010101" pitchFamily="34" charset="-127"/>
                  <a:ea typeface="한수원 한돋움OTF" panose="020B0600000101010101" pitchFamily="34" charset="-127"/>
                </a:defRPr>
              </a:lvl1pPr>
            </a:lstStyle>
            <a:p>
              <a:r>
                <a:rPr lang="en-US" altLang="ko-KR" dirty="0" err="1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OpenAPI</a:t>
              </a:r>
              <a:r>
                <a:rPr lang="ko-KR" altLang="en-US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를 통한 데이터 추가 수집</a:t>
              </a:r>
              <a:endPara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11B925B-21B0-45D4-8936-4996DAC4DB19}"/>
                </a:ext>
              </a:extLst>
            </p:cNvPr>
            <p:cNvCxnSpPr/>
            <p:nvPr/>
          </p:nvCxnSpPr>
          <p:spPr>
            <a:xfrm>
              <a:off x="395288" y="1349830"/>
              <a:ext cx="835342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95288" y="1782340"/>
            <a:ext cx="75985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대회에서 제공하는 데이터 정보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2012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년부터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2022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년까지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매해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5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월부터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10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월까지</a:t>
            </a:r>
            <a:endParaRPr lang="en-US" altLang="ko-KR" dirty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댐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개소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수위관측소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4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개소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강수량관측소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3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개소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조위관측소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개소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관련 부처 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OpenAPI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로 다른 기간 및 다른 관측소 데이터를 수집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한강홍수통제소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–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댐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수위 및 강수량 데이터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국립해양조사원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바다누리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해양정보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서비스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-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조위 데이터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수집된 데이터 중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결측치가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과다한 변수는 분석에서 배제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예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: fw_1018680)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99" y="4519119"/>
            <a:ext cx="2502416" cy="20474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675" y="4519119"/>
            <a:ext cx="2347477" cy="195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6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A62D38-029E-4399-B6C1-205E9FDE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4B493-03D7-49B1-ACA7-37AB417C2137}"/>
              </a:ext>
            </a:extLst>
          </p:cNvPr>
          <p:cNvSpPr txBox="1"/>
          <p:nvPr/>
        </p:nvSpPr>
        <p:spPr>
          <a:xfrm>
            <a:off x="0" y="287383"/>
            <a:ext cx="606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144E62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02</a:t>
            </a:r>
            <a:endParaRPr lang="ko-KR" altLang="en-US" sz="2400" dirty="0">
              <a:solidFill>
                <a:srgbClr val="144E62"/>
              </a:solidFill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AF778-E22F-4010-A5D6-978EEC45A741}"/>
              </a:ext>
            </a:extLst>
          </p:cNvPr>
          <p:cNvSpPr txBox="1"/>
          <p:nvPr/>
        </p:nvSpPr>
        <p:spPr>
          <a:xfrm>
            <a:off x="670562" y="104504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모형 선택</a:t>
            </a:r>
            <a:endParaRPr lang="ko-KR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5300B1-4B81-4528-A033-1267A6889E4A}"/>
              </a:ext>
            </a:extLst>
          </p:cNvPr>
          <p:cNvGrpSpPr/>
          <p:nvPr/>
        </p:nvGrpSpPr>
        <p:grpSpPr>
          <a:xfrm>
            <a:off x="348344" y="923109"/>
            <a:ext cx="8400369" cy="461665"/>
            <a:chOff x="348344" y="923109"/>
            <a:chExt cx="8400369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2240B4-2BAE-4CB8-82A1-C817A2093B76}"/>
                </a:ext>
              </a:extLst>
            </p:cNvPr>
            <p:cNvSpPr txBox="1"/>
            <p:nvPr/>
          </p:nvSpPr>
          <p:spPr>
            <a:xfrm>
              <a:off x="348344" y="923109"/>
              <a:ext cx="3767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400">
                  <a:gradFill>
                    <a:gsLst>
                      <a:gs pos="0">
                        <a:srgbClr val="1E65BC"/>
                      </a:gs>
                      <a:gs pos="98000">
                        <a:srgbClr val="3A9CB0"/>
                      </a:gs>
                    </a:gsLst>
                    <a:lin ang="5400000" scaled="1"/>
                  </a:gradFill>
                  <a:latin typeface="한수원 한돋움OTF" panose="020B0600000101010101" pitchFamily="34" charset="-127"/>
                  <a:ea typeface="한수원 한돋움OTF" panose="020B0600000101010101" pitchFamily="34" charset="-127"/>
                </a:defRPr>
              </a:lvl1pPr>
            </a:lstStyle>
            <a:p>
              <a:r>
                <a:rPr lang="ko-KR" altLang="en-US" dirty="0" err="1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부스팅</a:t>
              </a:r>
              <a:r>
                <a:rPr lang="ko-KR" altLang="en-US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 트리</a:t>
              </a:r>
              <a:r>
                <a:rPr lang="en-US" altLang="ko-KR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: </a:t>
              </a:r>
              <a:r>
                <a:rPr lang="en-US" altLang="ko-KR" dirty="0" err="1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LightGBM</a:t>
              </a:r>
              <a:r>
                <a:rPr lang="en-US" altLang="ko-KR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 </a:t>
              </a:r>
              <a:r>
                <a:rPr lang="en-US" altLang="ko-KR" sz="1100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[1]</a:t>
              </a:r>
              <a:endParaRPr lang="ko-KR" altLang="en-US" sz="1100" dirty="0"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11B925B-21B0-45D4-8936-4996DAC4DB19}"/>
                </a:ext>
              </a:extLst>
            </p:cNvPr>
            <p:cNvCxnSpPr/>
            <p:nvPr/>
          </p:nvCxnSpPr>
          <p:spPr>
            <a:xfrm>
              <a:off x="395288" y="1349830"/>
              <a:ext cx="835342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95288" y="1782340"/>
            <a:ext cx="70423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LightGBM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을 택한 이유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시계열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예측에 어울리는 모형 중 하나 </a:t>
            </a:r>
            <a:r>
              <a:rPr lang="en-US" altLang="ko-KR" sz="1100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[2]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결측치를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유연하게 처리할 수 있음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*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훈련 속도가 빠름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특성별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중요도 계산 가능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결과 분석에 유용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구현 방법 상세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4</a:t>
            </a:r>
            <a:r>
              <a:rPr lang="ko-KR" altLang="en-US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 관측소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수위를 예측하기 위해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4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개의 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LightGBM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예측기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사용</a:t>
            </a:r>
            <a:endParaRPr lang="en-US" altLang="ko-KR" dirty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성능 향상을 위해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개의 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LightGBM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모형을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stack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하였음</a:t>
            </a:r>
            <a: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/>
            </a:r>
            <a:b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</a:b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사용한 특성 및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하이퍼패러매터에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관해서는 이후 슬라이드 참조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070" y="5943864"/>
            <a:ext cx="7917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[1] </a:t>
            </a:r>
            <a:r>
              <a:rPr lang="en-US" altLang="ko-KR" sz="1000" dirty="0" err="1" smtClean="0"/>
              <a:t>Guolin</a:t>
            </a:r>
            <a:r>
              <a:rPr lang="en-US" altLang="ko-KR" sz="1000" dirty="0" smtClean="0"/>
              <a:t>, K. et al. </a:t>
            </a:r>
            <a:r>
              <a:rPr lang="en-US" altLang="ko-KR" sz="1000" i="1" dirty="0" err="1" smtClean="0"/>
              <a:t>LightGBM</a:t>
            </a:r>
            <a:r>
              <a:rPr lang="en-US" altLang="ko-KR" sz="1000" i="1" dirty="0" smtClean="0"/>
              <a:t>: A </a:t>
            </a:r>
            <a:r>
              <a:rPr lang="en-US" altLang="ko-KR" sz="1000" i="1" dirty="0" err="1" smtClean="0"/>
              <a:t>Hightly</a:t>
            </a:r>
            <a:r>
              <a:rPr lang="en-US" altLang="ko-KR" sz="1000" i="1" dirty="0" smtClean="0"/>
              <a:t> Efficient Gradient Boosting Decision Tree</a:t>
            </a:r>
            <a:r>
              <a:rPr lang="en-US" altLang="ko-KR" sz="1000" dirty="0" smtClean="0"/>
              <a:t>, Advances in Neural Information Processing Systems, 2017.</a:t>
            </a:r>
          </a:p>
          <a:p>
            <a:r>
              <a:rPr lang="en-US" altLang="ko-KR" sz="1000" dirty="0" smtClean="0"/>
              <a:t>[2] </a:t>
            </a:r>
            <a:r>
              <a:rPr lang="en-US" altLang="ko-KR" sz="1000" dirty="0" err="1" smtClean="0"/>
              <a:t>Januschowski</a:t>
            </a:r>
            <a:r>
              <a:rPr lang="en-US" altLang="ko-KR" sz="1000" dirty="0"/>
              <a:t>, T. et al. </a:t>
            </a:r>
            <a:r>
              <a:rPr lang="en-US" altLang="ko-KR" sz="1000" i="1" dirty="0"/>
              <a:t>Forecasting with trees</a:t>
            </a:r>
            <a:r>
              <a:rPr lang="en-US" altLang="ko-KR" sz="1000" dirty="0"/>
              <a:t>, International Journal of Forecasting, 2021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*</a:t>
            </a:r>
            <a:r>
              <a:rPr lang="ko-KR" altLang="en-US" sz="1000" dirty="0" err="1"/>
              <a:t>결측치를</a:t>
            </a:r>
            <a:r>
              <a:rPr lang="ko-KR" altLang="en-US" sz="1000" dirty="0"/>
              <a:t> 채우고</a:t>
            </a:r>
            <a:r>
              <a:rPr lang="en-US" altLang="ko-KR" sz="1000" dirty="0"/>
              <a:t>(impute) </a:t>
            </a:r>
            <a:r>
              <a:rPr lang="ko-KR" altLang="en-US" sz="1000" dirty="0"/>
              <a:t>동일하게 </a:t>
            </a:r>
            <a:r>
              <a:rPr lang="en-US" altLang="ko-KR" sz="1000" dirty="0" err="1"/>
              <a:t>LightGBM</a:t>
            </a:r>
            <a:r>
              <a:rPr lang="en-US" altLang="ko-KR" sz="1000" dirty="0"/>
              <a:t> </a:t>
            </a:r>
            <a:r>
              <a:rPr lang="ko-KR" altLang="en-US" sz="1000" dirty="0"/>
              <a:t>모형을 적용한 결과 성능이 </a:t>
            </a:r>
            <a:r>
              <a:rPr lang="ko-KR" altLang="en-US" sz="1000" dirty="0" err="1"/>
              <a:t>열화되었음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ko-KR" altLang="en-US" sz="1000" dirty="0"/>
              <a:t>이를 통해서</a:t>
            </a:r>
            <a:r>
              <a:rPr lang="en-US" altLang="ko-KR" sz="1000" dirty="0"/>
              <a:t> </a:t>
            </a:r>
            <a:r>
              <a:rPr lang="ko-KR" altLang="en-US" sz="1000" dirty="0" err="1"/>
              <a:t>결측치를</a:t>
            </a:r>
            <a:r>
              <a:rPr lang="ko-KR" altLang="en-US" sz="1000" dirty="0"/>
              <a:t> 실제 값에 가깝게 복원하기 어려울 것으로 추측하였고</a:t>
            </a:r>
            <a:r>
              <a:rPr lang="en-US" altLang="ko-KR" sz="1000" dirty="0"/>
              <a:t>, </a:t>
            </a:r>
            <a:r>
              <a:rPr lang="ko-KR" altLang="en-US" sz="1000" dirty="0"/>
              <a:t>따라서 </a:t>
            </a:r>
            <a:r>
              <a:rPr lang="ko-KR" altLang="en-US" sz="1000" dirty="0" err="1"/>
              <a:t>결측치에</a:t>
            </a:r>
            <a:r>
              <a:rPr lang="ko-KR" altLang="en-US" sz="1000" dirty="0"/>
              <a:t> 대처 가능한 모형이 필요할 것으로 판단한 </a:t>
            </a:r>
            <a:r>
              <a:rPr lang="ko-KR" altLang="en-US" sz="1000" dirty="0" smtClean="0"/>
              <a:t>것</a:t>
            </a:r>
            <a:endParaRPr lang="ko-KR" altLang="en-US" sz="10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86941" y="4644662"/>
            <a:ext cx="7790747" cy="1227948"/>
            <a:chOff x="670562" y="4556967"/>
            <a:chExt cx="7790747" cy="1227948"/>
          </a:xfrm>
        </p:grpSpPr>
        <p:sp>
          <p:nvSpPr>
            <p:cNvPr id="4" name="직사각형 3"/>
            <p:cNvSpPr/>
            <p:nvPr/>
          </p:nvSpPr>
          <p:spPr>
            <a:xfrm>
              <a:off x="670562" y="4604038"/>
              <a:ext cx="1014943" cy="67333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데이터</a:t>
              </a:r>
              <a:endParaRPr lang="ko-KR" altLang="en-US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888391" y="4604038"/>
              <a:ext cx="990946" cy="67333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특성</a:t>
              </a:r>
              <a:endParaRPr lang="ko-KR" altLang="en-US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189040" y="4609164"/>
              <a:ext cx="997528" cy="6733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예측치</a:t>
              </a:r>
              <a:endParaRPr lang="en-US" altLang="ko-KR" smtClean="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455469" y="4603184"/>
              <a:ext cx="1005840" cy="67333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예측치</a:t>
              </a:r>
              <a:endParaRPr lang="en-US" altLang="ko-KR" smtClean="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  <a:p>
              <a:pPr algn="ctr"/>
              <a:r>
                <a:rPr lang="en-US" altLang="ko-KR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(</a:t>
              </a:r>
              <a:r>
                <a:rPr lang="ko-KR" altLang="en-US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개선된</a:t>
              </a:r>
              <a:r>
                <a:rPr lang="en-US" altLang="ko-KR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)</a:t>
              </a:r>
              <a:endParaRPr lang="en-US" altLang="ko-KR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cxnSp>
          <p:nvCxnSpPr>
            <p:cNvPr id="23" name="직선 화살표 연결선 22"/>
            <p:cNvCxnSpPr>
              <a:stCxn id="4" idx="3"/>
              <a:endCxn id="14" idx="1"/>
            </p:cNvCxnSpPr>
            <p:nvPr/>
          </p:nvCxnSpPr>
          <p:spPr>
            <a:xfrm>
              <a:off x="1685505" y="4940704"/>
              <a:ext cx="12028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>
              <a:stCxn id="14" idx="3"/>
              <a:endCxn id="17" idx="1"/>
            </p:cNvCxnSpPr>
            <p:nvPr/>
          </p:nvCxnSpPr>
          <p:spPr>
            <a:xfrm>
              <a:off x="3879337" y="4940704"/>
              <a:ext cx="1309703" cy="51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839549" y="4560604"/>
              <a:ext cx="8947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특성 추출</a:t>
              </a:r>
              <a:endParaRPr lang="ko-KR" altLang="en-US" sz="140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09211" y="4556967"/>
              <a:ext cx="12218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LightGBM x4</a:t>
              </a:r>
              <a:endParaRPr lang="ko-KR" altLang="en-US" sz="140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189040" y="5277369"/>
              <a:ext cx="994237" cy="39056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특성</a:t>
              </a:r>
              <a:r>
                <a:rPr lang="en-US" altLang="ko-KR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(</a:t>
              </a:r>
              <a:r>
                <a:rPr lang="ko-KR" altLang="en-US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일부</a:t>
              </a:r>
              <a:r>
                <a:rPr lang="en-US" altLang="ko-KR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)</a:t>
              </a:r>
              <a:endParaRPr lang="ko-KR" altLang="en-US" sz="140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cxnSp>
          <p:nvCxnSpPr>
            <p:cNvPr id="34" name="꺾인 연결선 33"/>
            <p:cNvCxnSpPr>
              <a:stCxn id="14" idx="2"/>
              <a:endCxn id="32" idx="1"/>
            </p:cNvCxnSpPr>
            <p:nvPr/>
          </p:nvCxnSpPr>
          <p:spPr>
            <a:xfrm rot="16200000" flipH="1">
              <a:off x="4188810" y="4472423"/>
              <a:ext cx="195285" cy="1805176"/>
            </a:xfrm>
            <a:prstGeom prst="bentConnector2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879337" y="5477138"/>
              <a:ext cx="1059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일부 재사용</a:t>
              </a:r>
              <a:endParaRPr lang="ko-KR" altLang="en-US" sz="140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  <p:cxnSp>
          <p:nvCxnSpPr>
            <p:cNvPr id="38" name="꺾인 연결선 37"/>
            <p:cNvCxnSpPr>
              <a:endCxn id="20" idx="1"/>
            </p:cNvCxnSpPr>
            <p:nvPr/>
          </p:nvCxnSpPr>
          <p:spPr>
            <a:xfrm>
              <a:off x="6198257" y="4939849"/>
              <a:ext cx="1257212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2" idx="3"/>
              <a:endCxn id="20" idx="1"/>
            </p:cNvCxnSpPr>
            <p:nvPr/>
          </p:nvCxnSpPr>
          <p:spPr>
            <a:xfrm flipV="1">
              <a:off x="6183277" y="4939850"/>
              <a:ext cx="1272192" cy="53280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208468" y="4556967"/>
              <a:ext cx="12218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smtClean="0">
                  <a:latin typeface="한수원 한울림" panose="020B0600000101010101" pitchFamily="50" charset="-127"/>
                  <a:ea typeface="한수원 한울림" panose="020B0600000101010101" pitchFamily="50" charset="-127"/>
                </a:rPr>
                <a:t>LightGBM x4</a:t>
              </a:r>
              <a:endParaRPr lang="ko-KR" altLang="en-US" sz="1400">
                <a:latin typeface="한수원 한울림" panose="020B0600000101010101" pitchFamily="50" charset="-127"/>
                <a:ea typeface="한수원 한울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112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A62D38-029E-4399-B6C1-205E9FDE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4B493-03D7-49B1-ACA7-37AB417C2137}"/>
              </a:ext>
            </a:extLst>
          </p:cNvPr>
          <p:cNvSpPr txBox="1"/>
          <p:nvPr/>
        </p:nvSpPr>
        <p:spPr>
          <a:xfrm>
            <a:off x="0" y="287383"/>
            <a:ext cx="610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144E62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03</a:t>
            </a:r>
            <a:endParaRPr lang="ko-KR" altLang="en-US" sz="2400" dirty="0">
              <a:solidFill>
                <a:srgbClr val="144E62"/>
              </a:solidFill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AF778-E22F-4010-A5D6-978EEC45A741}"/>
              </a:ext>
            </a:extLst>
          </p:cNvPr>
          <p:cNvSpPr txBox="1"/>
          <p:nvPr/>
        </p:nvSpPr>
        <p:spPr>
          <a:xfrm>
            <a:off x="670562" y="104504"/>
            <a:ext cx="1580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특성 추출</a:t>
            </a:r>
            <a:endParaRPr lang="ko-KR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5300B1-4B81-4528-A033-1267A6889E4A}"/>
              </a:ext>
            </a:extLst>
          </p:cNvPr>
          <p:cNvGrpSpPr/>
          <p:nvPr/>
        </p:nvGrpSpPr>
        <p:grpSpPr>
          <a:xfrm>
            <a:off x="348344" y="923109"/>
            <a:ext cx="8400369" cy="461665"/>
            <a:chOff x="348344" y="923109"/>
            <a:chExt cx="8400369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2240B4-2BAE-4CB8-82A1-C817A2093B76}"/>
                </a:ext>
              </a:extLst>
            </p:cNvPr>
            <p:cNvSpPr txBox="1"/>
            <p:nvPr/>
          </p:nvSpPr>
          <p:spPr>
            <a:xfrm>
              <a:off x="348344" y="923109"/>
              <a:ext cx="39517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400">
                  <a:gradFill>
                    <a:gsLst>
                      <a:gs pos="0">
                        <a:srgbClr val="1E65BC"/>
                      </a:gs>
                      <a:gs pos="98000">
                        <a:srgbClr val="3A9CB0"/>
                      </a:gs>
                    </a:gsLst>
                    <a:lin ang="5400000" scaled="1"/>
                  </a:gradFill>
                  <a:latin typeface="한수원 한돋움OTF" panose="020B0600000101010101" pitchFamily="34" charset="-127"/>
                  <a:ea typeface="한수원 한돋움OTF" panose="020B0600000101010101" pitchFamily="34" charset="-127"/>
                </a:defRPr>
              </a:lvl1pPr>
            </a:lstStyle>
            <a:p>
              <a:r>
                <a:rPr lang="ko-KR" altLang="en-US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기초 통계량 추출</a:t>
              </a:r>
              <a:r>
                <a:rPr lang="en-US" altLang="ko-KR" dirty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 </a:t>
              </a:r>
              <a:r>
                <a:rPr lang="ko-KR" altLang="en-US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및 특성 선별</a:t>
              </a:r>
              <a:endPara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11B925B-21B0-45D4-8936-4996DAC4DB19}"/>
                </a:ext>
              </a:extLst>
            </p:cNvPr>
            <p:cNvCxnSpPr/>
            <p:nvPr/>
          </p:nvCxnSpPr>
          <p:spPr>
            <a:xfrm>
              <a:off x="395288" y="1349830"/>
              <a:ext cx="835342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95288" y="1782340"/>
            <a:ext cx="806342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관측치로부터 추출한 특성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lvl="1"/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관측치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=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강수량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수위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유량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조위 등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관측치의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10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분 전 값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20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분 전 값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…,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관측치의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시간 동안의 통계량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2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시간 동안의 통계량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이외에 추가한 특성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연도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(2012, 2013,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12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시간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25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분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간조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-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만조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및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29.53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일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사리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-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조금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주기로 변하는 값 추가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/>
            </a:r>
            <a:b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</a:b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조석 주기를 반영하기 위함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특성 선별 과정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어느 특성이 성능 향상에 도움이 될지 미리 알 수 없음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특성을 포함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/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배제해 가며 반복 실험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성능 향상에 기여하지 못하는 특성 제거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LightGBM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모형에서 중요도가 낮게 측정된 특성 제거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218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A62D38-029E-4399-B6C1-205E9FDE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4B493-03D7-49B1-ACA7-37AB417C2137}"/>
              </a:ext>
            </a:extLst>
          </p:cNvPr>
          <p:cNvSpPr txBox="1"/>
          <p:nvPr/>
        </p:nvSpPr>
        <p:spPr>
          <a:xfrm>
            <a:off x="0" y="287383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144E62"/>
                </a:solidFill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04</a:t>
            </a:r>
            <a:endParaRPr lang="ko-KR" altLang="en-US" sz="2400" dirty="0">
              <a:solidFill>
                <a:srgbClr val="144E62"/>
              </a:solidFill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AF778-E22F-4010-A5D6-978EEC45A741}"/>
              </a:ext>
            </a:extLst>
          </p:cNvPr>
          <p:cNvSpPr txBox="1"/>
          <p:nvPr/>
        </p:nvSpPr>
        <p:spPr>
          <a:xfrm>
            <a:off x="670562" y="104504"/>
            <a:ext cx="3199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하이퍼패러매터</a:t>
            </a:r>
            <a:r>
              <a:rPr lang="ko-KR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 튜닝</a:t>
            </a:r>
            <a:endParaRPr lang="ko-KR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5300B1-4B81-4528-A033-1267A6889E4A}"/>
              </a:ext>
            </a:extLst>
          </p:cNvPr>
          <p:cNvGrpSpPr/>
          <p:nvPr/>
        </p:nvGrpSpPr>
        <p:grpSpPr>
          <a:xfrm>
            <a:off x="348344" y="923109"/>
            <a:ext cx="8400369" cy="461665"/>
            <a:chOff x="348344" y="923109"/>
            <a:chExt cx="8400369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2240B4-2BAE-4CB8-82A1-C817A2093B76}"/>
                </a:ext>
              </a:extLst>
            </p:cNvPr>
            <p:cNvSpPr txBox="1"/>
            <p:nvPr/>
          </p:nvSpPr>
          <p:spPr>
            <a:xfrm>
              <a:off x="348344" y="923109"/>
              <a:ext cx="42482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400">
                  <a:gradFill>
                    <a:gsLst>
                      <a:gs pos="0">
                        <a:srgbClr val="1E65BC"/>
                      </a:gs>
                      <a:gs pos="98000">
                        <a:srgbClr val="3A9CB0"/>
                      </a:gs>
                    </a:gsLst>
                    <a:lin ang="5400000" scaled="1"/>
                  </a:gradFill>
                  <a:latin typeface="한수원 한돋움OTF" panose="020B0600000101010101" pitchFamily="34" charset="-127"/>
                  <a:ea typeface="한수원 한돋움OTF" panose="020B0600000101010101" pitchFamily="34" charset="-127"/>
                </a:defRPr>
              </a:lvl1pPr>
            </a:lstStyle>
            <a:p>
              <a:r>
                <a:rPr lang="en-US" altLang="ko-KR" dirty="0" err="1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Optuna</a:t>
              </a:r>
              <a:r>
                <a:rPr lang="en-US" altLang="ko-KR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 </a:t>
              </a:r>
              <a:r>
                <a:rPr lang="en-US" altLang="ko-KR" sz="1100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[3]</a:t>
              </a:r>
              <a:r>
                <a:rPr lang="ko-KR" altLang="en-US" dirty="0" smtClean="0">
                  <a:latin typeface="한수원 한돋움" panose="020B0600000101010101" pitchFamily="50" charset="-127"/>
                  <a:ea typeface="한수원 한돋움" panose="020B0600000101010101" pitchFamily="50" charset="-127"/>
                </a:rPr>
                <a:t>를 활용한 랜덤 탐색</a:t>
              </a:r>
              <a:endParaRPr lang="ko-KR" altLang="en-US" dirty="0">
                <a:latin typeface="한수원 한돋움" panose="020B0600000101010101" pitchFamily="50" charset="-127"/>
                <a:ea typeface="한수원 한돋움" panose="020B0600000101010101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11B925B-21B0-45D4-8936-4996DAC4DB19}"/>
                </a:ext>
              </a:extLst>
            </p:cNvPr>
            <p:cNvCxnSpPr/>
            <p:nvPr/>
          </p:nvCxnSpPr>
          <p:spPr>
            <a:xfrm>
              <a:off x="395288" y="1349830"/>
              <a:ext cx="835342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95288" y="1782340"/>
            <a:ext cx="86148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튜닝할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설정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과다하지 않도록 제한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LightGBM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의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‘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num_leaves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’, ‘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num_iterations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’, ‘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learning_rate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’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를 튜닝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Stack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한 앞쪽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예측기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4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 및 뒤쪽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예측기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4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개는 각각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하이퍼패러매터를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공유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즉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총 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6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개의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하이퍼패러매터가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튜닝 대상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랜덤 탐색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시도할 수 있는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조합이 매우 다양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각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하이퍼패러매터별로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범위를 정하고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,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범위 내에서 임의로 값을 택하여 성능 측정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/>
            </a:r>
            <a:b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</a:b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(</a:t>
            </a:r>
            <a: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2021</a:t>
            </a:r>
            <a:r>
              <a:rPr lang="ko-KR" altLang="en-US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년 </a:t>
            </a:r>
            <a: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6</a:t>
            </a:r>
            <a:r>
              <a:rPr lang="ko-KR" altLang="en-US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월 이전 데이터로 훈련하고 </a:t>
            </a:r>
            <a: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2021</a:t>
            </a:r>
            <a:r>
              <a:rPr lang="ko-KR" altLang="en-US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년 </a:t>
            </a:r>
            <a:r>
              <a:rPr lang="en-US" altLang="ko-KR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6-7</a:t>
            </a:r>
            <a:r>
              <a:rPr lang="ko-KR" altLang="en-US" dirty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월 데이터로 성능 측정</a:t>
            </a:r>
            <a:r>
              <a:rPr lang="en-US" altLang="ko-KR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여러 번 반복하여 가장 나은 성능을 보인 </a:t>
            </a: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하이퍼패러매터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조합을 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사용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파이썬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 라이브러리 </a:t>
            </a:r>
            <a:r>
              <a:rPr lang="en-US" altLang="ko-KR" dirty="0" err="1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optuna</a:t>
            </a:r>
            <a:r>
              <a:rPr lang="ko-KR" altLang="en-US" dirty="0" smtClean="0">
                <a:latin typeface="한수원 한울림" panose="020B0600000101010101" pitchFamily="50" charset="-127"/>
                <a:ea typeface="한수원 한울림" panose="020B0600000101010101" pitchFamily="50" charset="-127"/>
              </a:rPr>
              <a:t>를 활용</a:t>
            </a:r>
            <a:endParaRPr lang="en-US" altLang="ko-KR" dirty="0" smtClean="0">
              <a:latin typeface="한수원 한울림" panose="020B0600000101010101" pitchFamily="50" charset="-127"/>
              <a:ea typeface="한수원 한울림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1070" y="5943864"/>
            <a:ext cx="5030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[3</a:t>
            </a:r>
            <a:r>
              <a:rPr lang="en-US" altLang="ko-KR" sz="1000" dirty="0"/>
              <a:t>] Takuya </a:t>
            </a:r>
            <a:r>
              <a:rPr lang="en-US" altLang="ko-KR" sz="1000" dirty="0" err="1"/>
              <a:t>Akiba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Shotaro</a:t>
            </a:r>
            <a:r>
              <a:rPr lang="en-US" altLang="ko-KR" sz="1000" dirty="0"/>
              <a:t> Sano, Toshihiko </a:t>
            </a:r>
            <a:r>
              <a:rPr lang="en-US" altLang="ko-KR" sz="1000" dirty="0" err="1"/>
              <a:t>Yanase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Takeru</a:t>
            </a:r>
            <a:r>
              <a:rPr lang="en-US" altLang="ko-KR" sz="1000" dirty="0"/>
              <a:t> </a:t>
            </a:r>
            <a:r>
              <a:rPr lang="en-US" altLang="ko-KR" sz="1000" dirty="0" err="1"/>
              <a:t>Ohta,and</a:t>
            </a:r>
            <a:r>
              <a:rPr lang="en-US" altLang="ko-KR" sz="1000" dirty="0"/>
              <a:t> Masanori Koyama. </a:t>
            </a:r>
            <a:r>
              <a:rPr lang="en-US" altLang="ko-KR" sz="1000" dirty="0" smtClean="0"/>
              <a:t>2019. </a:t>
            </a:r>
          </a:p>
          <a:p>
            <a:r>
              <a:rPr lang="en-US" altLang="ko-KR" sz="1000" i="1" dirty="0" err="1" smtClean="0"/>
              <a:t>Optuna</a:t>
            </a:r>
            <a:r>
              <a:rPr lang="en-US" altLang="ko-KR" sz="1000" i="1" dirty="0"/>
              <a:t>: A Next-generation </a:t>
            </a:r>
            <a:r>
              <a:rPr lang="en-US" altLang="ko-KR" sz="1000" i="1" dirty="0" err="1"/>
              <a:t>Hyperparameter</a:t>
            </a:r>
            <a:r>
              <a:rPr lang="en-US" altLang="ko-KR" sz="1000" i="1" dirty="0"/>
              <a:t> Optimization Framework</a:t>
            </a:r>
            <a:r>
              <a:rPr lang="en-US" altLang="ko-KR" sz="1000" dirty="0"/>
              <a:t>. In KDD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866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C8B6CDE-8E5B-4BC5-B2E7-40318B6D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831F35EB-DECD-4283-B76D-4790E09303E3}"/>
              </a:ext>
            </a:extLst>
          </p:cNvPr>
          <p:cNvSpPr txBox="1"/>
          <p:nvPr/>
        </p:nvSpPr>
        <p:spPr>
          <a:xfrm>
            <a:off x="2339661" y="1976887"/>
            <a:ext cx="44646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>
                <a:ln w="6600">
                  <a:solidFill>
                    <a:srgbClr val="144E62"/>
                  </a:solidFill>
                  <a:prstDash val="solid"/>
                </a:ln>
                <a:solidFill>
                  <a:schemeClr val="bg1"/>
                </a:solidFill>
                <a:effectLst>
                  <a:outerShdw dist="50800" dir="3000000" algn="ctr" rotWithShape="0">
                    <a:schemeClr val="bg2">
                      <a:lumMod val="25000"/>
                    </a:schemeClr>
                  </a:outerShdw>
                </a:effectLst>
                <a:latin typeface="한수원 한돋움" panose="020B0600000101010101" pitchFamily="50" charset="-127"/>
                <a:ea typeface="한수원 한돋움" panose="020B0600000101010101" pitchFamily="50" charset="-127"/>
              </a:rPr>
              <a:t>감사합니다</a:t>
            </a:r>
            <a:endParaRPr lang="en-US" altLang="ko-KR" sz="7200" dirty="0">
              <a:ln>
                <a:solidFill>
                  <a:srgbClr val="144E62"/>
                </a:solidFill>
              </a:ln>
              <a:solidFill>
                <a:schemeClr val="bg1"/>
              </a:solidFill>
              <a:effectLst>
                <a:outerShdw dist="50800" dir="3000000" algn="ctr" rotWithShape="0">
                  <a:schemeClr val="bg2">
                    <a:lumMod val="25000"/>
                  </a:schemeClr>
                </a:outerShdw>
              </a:effectLst>
              <a:latin typeface="한수원 한돋움" panose="020B0600000101010101" pitchFamily="50" charset="-127"/>
              <a:ea typeface="한수원 한돋움" panose="020B060000010101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43947" y="4899171"/>
            <a:ext cx="6069290" cy="1726738"/>
            <a:chOff x="159390" y="411061"/>
            <a:chExt cx="6069290" cy="1726738"/>
          </a:xfrm>
        </p:grpSpPr>
        <p:sp>
          <p:nvSpPr>
            <p:cNvPr id="12" name="TextBox 11"/>
            <p:cNvSpPr txBox="1"/>
            <p:nvPr/>
          </p:nvSpPr>
          <p:spPr>
            <a:xfrm>
              <a:off x="159390" y="411061"/>
              <a:ext cx="5147563" cy="49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 안심글꼴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PPT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는 공공저작물이며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공공안심글꼴을 활용해서 제작되었습니다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따라서 아래와 같이 출처표시를 하고 사용해야 합니다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9390" y="1639201"/>
              <a:ext cx="6069290" cy="49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공공누리 홈페이지에서 이미지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글꼴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3D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 다양한 공공저작물을 </a:t>
              </a:r>
              <a:r>
                <a:rPr lang="ko-KR" altLang="en-US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내려받아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사용하세요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  <a:hlinkClick r:id="rId3"/>
                </a:rPr>
                <a:t>www.kogl.or.kr</a:t>
              </a: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9390" y="937470"/>
              <a:ext cx="1457450" cy="480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안심글꼴 </a:t>
              </a:r>
              <a:r>
                <a: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PPT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출처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한국문화정보원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41127" y="937470"/>
              <a:ext cx="2460930" cy="701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공공안심글꼴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무료글꼴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한국수력원자력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한돋움체</a:t>
              </a: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무료글꼴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한국수력원자력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한울림체</a:t>
              </a: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15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14817</TotalTime>
  <Words>521</Words>
  <Application>Microsoft Office PowerPoint</Application>
  <PresentationFormat>화면 슬라이드 쇼(4:3)</PresentationFormat>
  <Paragraphs>102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한수원 한울림</vt:lpstr>
      <vt:lpstr>Arial</vt:lpstr>
      <vt:lpstr>한수원 한돋움</vt:lpstr>
      <vt:lpstr>Calibri Light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anypt</dc:creator>
  <cp:lastModifiedBy>소병창</cp:lastModifiedBy>
  <cp:revision>92</cp:revision>
  <dcterms:created xsi:type="dcterms:W3CDTF">2020-04-09T00:46:44Z</dcterms:created>
  <dcterms:modified xsi:type="dcterms:W3CDTF">2022-09-12T12:43:38Z</dcterms:modified>
</cp:coreProperties>
</file>